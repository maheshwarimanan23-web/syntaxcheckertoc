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31520" y="685800"/>
            <a:ext cx="5303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PROJECT 12  /  COMPILER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77240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C"/>
                </a:solidFill>
                <a:latin typeface="Aptos"/>
              </a:rPr>
              <a:t>Mini Programming
Language Syntax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37460"/>
            <a:ext cx="66751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AEBED2"/>
                </a:solidFill>
                <a:latin typeface="Aptos"/>
              </a:rPr>
              <a:t>From source code to clear, line-level syntax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3746089"/>
            <a:ext cx="5029200" cy="1694591"/>
          </a:xfrm>
          <a:prstGeom prst="roundRect">
            <a:avLst>
              <a:gd name="adj" fmla="val 18421"/>
            </a:avLst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19" y="3297239"/>
            <a:ext cx="59436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F5F8FC"/>
                </a:solidFill>
                <a:latin typeface="Aptos"/>
              </a:rPr>
              <a:t>CFG + DFA + Recursive-Descent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72200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TEAM OF 4  •  2-WEEK BUILD  •  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5AC81-02CE-156E-5C28-73EA5276871B}"/>
              </a:ext>
            </a:extLst>
          </p:cNvPr>
          <p:cNvSpPr txBox="1"/>
          <p:nvPr/>
        </p:nvSpPr>
        <p:spPr>
          <a:xfrm flipH="1">
            <a:off x="1012721" y="3971004"/>
            <a:ext cx="4208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M Shreyank Gowda        —    4NI24IS094</a:t>
            </a:r>
          </a:p>
          <a:p>
            <a:r>
              <a:rPr lang="en-IN" dirty="0"/>
              <a:t>- Kritika                               —    4NI24IS087</a:t>
            </a:r>
          </a:p>
          <a:p>
            <a:r>
              <a:rPr lang="en-IN" dirty="0"/>
              <a:t>- Manan Maheshwari       —    4NI24IS099</a:t>
            </a:r>
          </a:p>
          <a:p>
            <a:r>
              <a:rPr lang="en-IN" dirty="0"/>
              <a:t>- Nischitha R N                  —    4NI24IS119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The idea in one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6634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5F8FC"/>
                </a:solidFill>
                <a:latin typeface="Aptos"/>
              </a:rPr>
              <a:t>Build a tiny language and a checker that tells users whether their programs follow its grammar.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4805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EBED2"/>
                </a:solidFill>
                <a:latin typeface="Aptos"/>
              </a:rPr>
              <a:t>Instead of a vague “invalid code” message, the checker reports what went wrong and 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645920"/>
            <a:ext cx="18288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0" y="1645920"/>
            <a:ext cx="50292" cy="1508760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87568" y="1810512"/>
            <a:ext cx="1444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231136"/>
            <a:ext cx="14447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Python 3
Custom mini-language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45920"/>
            <a:ext cx="18288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8079" y="1645920"/>
            <a:ext cx="50292" cy="150876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9248" y="1810512"/>
            <a:ext cx="1444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231136"/>
            <a:ext cx="14447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DFA tokenizer
CFG parser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645920"/>
            <a:ext cx="18288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0" y="1645920"/>
            <a:ext cx="50292" cy="1508760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10928" y="1810512"/>
            <a:ext cx="14447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231136"/>
            <a:ext cx="14447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Syntax OK
or precise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657600"/>
            <a:ext cx="585216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3886200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DDCBE"/>
                </a:solidFill>
                <a:latin typeface="Aptos"/>
              </a:rPr>
              <a:t>APPLICATION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97680"/>
            <a:ext cx="52120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Compilers and AI coding assistants use similar validation stages to catch malformed generated code before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02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A small language, deliberately designed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FOUR STATEMENT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514600" cy="1325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0292" cy="1325880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1305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96896"/>
            <a:ext cx="2130552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EBED2"/>
                </a:solidFill>
                <a:latin typeface="Aptos"/>
              </a:rPr>
              <a:t>x =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514600" cy="1325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2011680"/>
            <a:ext cx="50292" cy="132588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2176272"/>
            <a:ext cx="21305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If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596896"/>
            <a:ext cx="2130552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2"/>
                </a:solidFill>
                <a:latin typeface="Aptos"/>
              </a:rPr>
              <a:t>if x &gt; 3 then y = x + 1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2514600" cy="1325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50292" cy="1325880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776472"/>
            <a:ext cx="21305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While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197096"/>
            <a:ext cx="2130552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while x &lt; 10 do x = x + 1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611880"/>
            <a:ext cx="2514600" cy="1325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37560" y="3611880"/>
            <a:ext cx="50292" cy="1325880"/>
          </a:xfrm>
          <a:prstGeom prst="rect">
            <a:avLst/>
          </a:prstGeom>
          <a:solidFill>
            <a:srgbClr val="6FE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8" y="3776472"/>
            <a:ext cx="21305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Expression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4197096"/>
            <a:ext cx="2130552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EBED2"/>
                </a:solidFill>
                <a:latin typeface="Aptos"/>
              </a:rPr>
              <a:t>x + y *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011680"/>
            <a:ext cx="4937760" cy="29260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2331720"/>
            <a:ext cx="4297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834640"/>
            <a:ext cx="4160520" cy="1828800"/>
          </a:xfrm>
          <a:prstGeom prst="rect">
            <a:avLst/>
          </a:prstGeom>
          <a:noFill/>
        </p:spPr>
        <p:txBody>
          <a:bodyPr wrap="square" lIns="54864" rIns="45720" bIns="18288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Keep keywords and operators consistent</a:t>
            </a:r>
          </a:p>
          <a:p>
            <a:pPr>
              <a:spcAft>
                <a:spcPts val="12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Define valid syntax before coding</a:t>
            </a:r>
          </a:p>
          <a:p>
            <a:pPr>
              <a:spcAft>
                <a:spcPts val="12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Reject malformed input safely</a:t>
            </a:r>
          </a:p>
          <a:p>
            <a:pPr>
              <a:spcAft>
                <a:spcPts val="12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Make error messages useful to beginners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The validation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240280" cy="1874519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997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1828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Program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3DDCBE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331720"/>
            <a:ext cx="2240280" cy="1874519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51460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Tokenizer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474720"/>
            <a:ext cx="1828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Characters →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017520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3DDCBE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31720"/>
            <a:ext cx="2240280" cy="1874519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51460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15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1828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Tokens → grammar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17520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3DDCBE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331720"/>
            <a:ext cx="2240280" cy="1874519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51460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E29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97180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Diagnostics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474720"/>
            <a:ext cx="1828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Success or line-level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800600"/>
            <a:ext cx="9829800" cy="640080"/>
          </a:xfrm>
          <a:prstGeom prst="roundRect">
            <a:avLst/>
          </a:prstGeom>
          <a:solidFill>
            <a:srgbClr val="1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4965192"/>
            <a:ext cx="9326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Key idea: tokenization identifies the pieces; parsing checks how those pieces fit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04 / TOKENIZATION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Turn characters into meaningful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TOKEN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029200" cy="53035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76856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997FF"/>
                </a:solidFill>
                <a:latin typeface="Aptos"/>
              </a:rPr>
              <a:t>KEYWORD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58568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if · then · while · do ·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62072"/>
            <a:ext cx="5029200" cy="53035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DDCBE"/>
                </a:solidFill>
                <a:latin typeface="Aptos"/>
              </a:rPr>
              <a:t>IDENTIFIER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7180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x · total ·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75304"/>
            <a:ext cx="5029200" cy="53035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15C"/>
                </a:solidFill>
                <a:latin typeface="Aptos"/>
              </a:rPr>
              <a:t>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85032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5 · 42 · 3.14 (if supported)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88536"/>
            <a:ext cx="5029200" cy="53035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1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E29D"/>
                </a:solidFill>
                <a:latin typeface="Aptos"/>
              </a:rP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398264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= · + · - · * · / · &lt; · 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166360" cy="352044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DFA-STYLE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43891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AEBED2"/>
                </a:solidFill>
                <a:latin typeface="Aptos"/>
              </a:rPr>
              <a:t>Read left to right and classify each character sequence.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57600"/>
            <a:ext cx="1325880" cy="658368"/>
          </a:xfrm>
          <a:prstGeom prst="round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3867912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LETTER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657600"/>
            <a:ext cx="1325880" cy="658368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3867912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DIGIT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59" y="3657600"/>
            <a:ext cx="1325880" cy="658368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3867912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297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Track line and column positions while scanning.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05 / GRAMMAR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CFG rules define what is valid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577840" cy="42519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ILLUSTRATIVE GRAMMAR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Consolas"/>
              </a:rPr>
              <a:t>program     → statement*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62072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Consolas"/>
              </a:rPr>
              <a:t>statement   → assignment | if_stmt | while_stmt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55264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C"/>
                </a:solidFill>
                <a:latin typeface="Consolas"/>
              </a:rPr>
              <a:t>assignment  → IDENTIFIER '='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Consolas"/>
              </a:rPr>
              <a:t>if_stmt     → 'if' condition 'then' statement 'end'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41648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Consolas"/>
              </a:rPr>
              <a:t>while_stmt  → 'while' condition 'do' statement 'end'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Consolas"/>
              </a:rPr>
              <a:t>expression  → term (('+' | '-') term)*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28032"/>
            <a:ext cx="4800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Consolas"/>
              </a:rPr>
              <a:t>condition   → expression comparator expression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45920"/>
            <a:ext cx="4754880" cy="1828800"/>
          </a:xfrm>
          <a:prstGeom prst="roundRect">
            <a:avLst/>
          </a:prstGeom>
          <a:solidFill>
            <a:srgbClr val="1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192024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RECURSIVE-DESCENT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423160"/>
            <a:ext cx="3977639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Each grammar rule maps to a function. Functions consume expected tokens and report mismatches.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749039"/>
            <a:ext cx="4754880" cy="214884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4023360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C15C"/>
                </a:solidFill>
                <a:latin typeface="Aptos"/>
              </a:rPr>
              <a:t>WHY CFG?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480560"/>
            <a:ext cx="3977639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A context-free grammar describes nested structure more clearly than a collection of isolated text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06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Valid input vs. a useful syntax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611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E29D"/>
                </a:solidFill>
                <a:latin typeface="Aptos"/>
              </a:rPr>
              <a:t>PROGRAM 1  /  VALID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4663440" cy="1234440"/>
          </a:xfrm>
          <a:prstGeom prst="round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297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Consolas"/>
              </a:rPr>
              <a:t>x = 5
if x &gt; 3 then y = x + 1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4805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FE29D"/>
                </a:solidFill>
                <a:latin typeface="Aptos"/>
              </a:rPr>
              <a:t>✓  SYNTAX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EBED2"/>
                </a:solidFill>
                <a:latin typeface="Aptos"/>
              </a:rPr>
              <a:t>Tokens and statement structure are valid.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303520" cy="361188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07A"/>
                </a:solidFill>
                <a:latin typeface="Aptos"/>
              </a:rPr>
              <a:t>PROGRAM 2  /  INVALID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423160"/>
            <a:ext cx="4663440" cy="1234440"/>
          </a:xfrm>
          <a:prstGeom prst="round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4297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5F8FC"/>
                </a:solidFill>
                <a:latin typeface="Consolas"/>
              </a:rPr>
              <a:t>x = 5
if x &gt; 3 y = x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4526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07A"/>
                </a:solidFill>
                <a:latin typeface="Aptos"/>
              </a:rPr>
              <a:t>✕  SYNTAX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4805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Line 2, column 10: expected 'then'.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EBED2"/>
                </a:solidFill>
                <a:latin typeface="Aptos"/>
              </a:rPr>
              <a:t>Hint: if &lt;condition&gt; then &lt;statement&gt;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07 /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What the project must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EBED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290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0292" cy="1508760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01  Language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76856"/>
            <a:ext cx="30449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Define four statement types and consistent syntax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50292" cy="150876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02  Correctness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76856"/>
            <a:ext cx="30449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Accept valid programs and reject malformed programs.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429000" cy="150876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50292" cy="1508760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856232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03  Diagnostics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76856"/>
            <a:ext cx="3044952" cy="7955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Show precise line/column hints for common errors.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4846320" cy="1371600"/>
          </a:xfrm>
          <a:prstGeom prst="rect">
            <a:avLst/>
          </a:prstGeom>
          <a:noFill/>
        </p:spPr>
        <p:txBody>
          <a:bodyPr wrap="square" lIns="54864" rIns="45720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At least 10 valid programs</a:t>
            </a:r>
          </a:p>
          <a:p>
            <a:pPr>
              <a:spcAft>
                <a:spcPts val="10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At least 10 invalid programs</a:t>
            </a:r>
          </a:p>
          <a:p>
            <a:pPr>
              <a:spcAft>
                <a:spcPts val="1000"/>
              </a:spcAft>
              <a:defRPr sz="1500">
                <a:solidFill>
                  <a:srgbClr val="AEBED2"/>
                </a:solidFill>
                <a:latin typeface="Aptos"/>
              </a:defRPr>
            </a:pPr>
            <a:r>
              <a:t>•  Missing keyword, operator, delimiter and expression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794760"/>
            <a:ext cx="5212080" cy="1417320"/>
          </a:xfrm>
          <a:prstGeom prst="roundRect">
            <a:avLst/>
          </a:prstGeom>
          <a:solidFill>
            <a:srgbClr val="1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4480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C15C"/>
                </a:solidFill>
                <a:latin typeface="Aptos"/>
              </a:rPr>
              <a:t>DEFINITION OF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44805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A repeatable demo produces either “SYNTAX OK” or an actionable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09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Clear ownership across four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US" sz="1000" b="1" dirty="0">
                <a:solidFill>
                  <a:srgbClr val="AEBED2"/>
                </a:solidFill>
                <a:latin typeface="Aptos"/>
              </a:rPr>
              <a:t>9</a:t>
            </a:r>
            <a:endParaRPr sz="1000" b="1" i="0" dirty="0">
              <a:solidFill>
                <a:srgbClr val="AEBED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80467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MEMBER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10512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Language + CFG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47088"/>
            <a:ext cx="5760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Define syntax, grammar rules and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15768"/>
            <a:ext cx="10698480" cy="80467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52928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997FF"/>
                </a:solidFill>
                <a:latin typeface="Aptos"/>
              </a:rPr>
              <a:t>MEMBER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34640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Tokenizer / DFA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871216"/>
            <a:ext cx="5760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Implement scanning and token positions.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39896"/>
            <a:ext cx="10698480" cy="80467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877056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C15C"/>
                </a:solidFill>
                <a:latin typeface="Aptos"/>
              </a:rPr>
              <a:t>MEMBER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858768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Parser / CFG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895344"/>
            <a:ext cx="5760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Implement parsing functions and error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64024"/>
            <a:ext cx="10698480" cy="804672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01184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E29D"/>
                </a:solidFill>
                <a:latin typeface="Aptos"/>
              </a:rPr>
              <a:t>MEMBER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82896"/>
            <a:ext cx="2331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C"/>
                </a:solidFill>
                <a:latin typeface="Aptos"/>
              </a:rPr>
              <a:t>Testing +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919472"/>
            <a:ext cx="5760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ED2"/>
                </a:solidFill>
                <a:latin typeface="Aptos"/>
              </a:rPr>
              <a:t>Build test cases, polish diagnostics and slides.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DDCBE"/>
                </a:solidFill>
                <a:latin typeface="Aptos"/>
              </a:rPr>
              <a:t>10 / FINAL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C"/>
                </a:solidFill>
                <a:latin typeface="Aptos"/>
              </a:rPr>
              <a:t>A compiler-style checker, built for clarity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914400" cy="41148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 dirty="0">
                <a:solidFill>
                  <a:srgbClr val="AEBED2"/>
                </a:solidFill>
                <a:latin typeface="Aptos"/>
              </a:rPr>
              <a:t>1</a:t>
            </a:r>
            <a:r>
              <a:rPr lang="en-US" sz="1000" b="1" i="0" dirty="0">
                <a:solidFill>
                  <a:srgbClr val="AEBED2"/>
                </a:solidFill>
                <a:latin typeface="Aptos"/>
              </a:rPr>
              <a:t>0</a:t>
            </a:r>
            <a:endParaRPr sz="1000" b="1" i="0" dirty="0">
              <a:solidFill>
                <a:srgbClr val="AEBED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141732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50292" cy="1417320"/>
          </a:xfrm>
          <a:prstGeom prst="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29535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Python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76856"/>
            <a:ext cx="29535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Core implementation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141732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50292" cy="1417320"/>
          </a:xfrm>
          <a:prstGeom prst="rect">
            <a:avLst/>
          </a:prstGeom>
          <a:solidFill>
            <a:srgbClr val="5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2"/>
            <a:ext cx="29535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76856"/>
            <a:ext cx="29535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Development, debugging and test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337560" cy="1417320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50292" cy="1417320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856232"/>
            <a:ext cx="29535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draw.io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76856"/>
            <a:ext cx="2953512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ED2"/>
                </a:solidFill>
                <a:latin typeface="Aptos"/>
              </a:rPr>
              <a:t>CFG diagram and parse-tree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10835640" cy="1645920"/>
          </a:xfrm>
          <a:prstGeom prst="roundRect">
            <a:avLst/>
          </a:prstGeom>
          <a:solidFill>
            <a:srgbClr val="1C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9966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DDCBE"/>
                </a:solidFill>
                <a:latin typeface="Aptos"/>
              </a:rPr>
              <a:t>FINAL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97840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A runnable Python syntax checker that accepts a mini-language program and prints either SYNTAX OK or a precise error message with location and hint.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424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EBED2"/>
                </a:solidFill>
                <a:latin typeface="Aptos"/>
              </a:rPr>
              <a:t>Optional extension: use PLY for lexer/parser implementation after the core pipeline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840" y="147484"/>
            <a:ext cx="4072521" cy="6440129"/>
          </a:xfrm>
          <a:prstGeom prst="roundRect">
            <a:avLst/>
          </a:prstGeom>
          <a:solidFill>
            <a:srgbClr val="16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DDCBE"/>
                </a:solidFill>
                <a:latin typeface="Aptos"/>
              </a:rPr>
              <a:t>PROJECT 12  /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85800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5F8FC"/>
                </a:solidFill>
                <a:latin typeface="Aptos"/>
              </a:rPr>
              <a:t>Make syntax errors
understandable.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337560"/>
            <a:ext cx="6126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EBED2"/>
                </a:solidFill>
                <a:latin typeface="Aptos"/>
              </a:rPr>
              <a:t>A small, practical demonstration of how formal grammar, tokenization and parsing work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572000"/>
            <a:ext cx="2240280" cy="457200"/>
          </a:xfrm>
          <a:prstGeom prst="roundRect">
            <a:avLst/>
          </a:prstGeom>
          <a:solidFill>
            <a:srgbClr val="3D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81728"/>
            <a:ext cx="20116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3"/>
                </a:solidFill>
                <a:latin typeface="Aptos"/>
              </a:rPr>
              <a:t>QUESTIONS &amp;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DDCBE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423160"/>
            <a:ext cx="29260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 dirty="0">
                <a:solidFill>
                  <a:srgbClr val="F5F8FC"/>
                </a:solidFill>
                <a:latin typeface="Aptos"/>
              </a:rPr>
              <a:t>Python 3
CFG + DFA
Recursive descent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784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shreyankgowda0@gmail.com</cp:lastModifiedBy>
  <cp:revision>4</cp:revision>
  <dcterms:created xsi:type="dcterms:W3CDTF">2013-01-27T09:14:16Z</dcterms:created>
  <dcterms:modified xsi:type="dcterms:W3CDTF">2026-10-19T15:34:47Z</dcterms:modified>
  <cp:category/>
</cp:coreProperties>
</file>